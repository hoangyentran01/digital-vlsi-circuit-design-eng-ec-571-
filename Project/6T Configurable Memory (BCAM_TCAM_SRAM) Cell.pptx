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b434081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b434081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 + waveforms for each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7153b3f6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7153b3f6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7153b3f6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7153b3f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b434081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b434081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diagram from cadence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b4340810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b434081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schematics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b4340810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b4340810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77ae3e2e4_0_1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77ae3e2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4340810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b4340810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7895bfb3d_4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7895bfb3d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b4340810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b4340810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maybe we can use our schematics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7161a2bd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7161a2bd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71a24662d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71a24662d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b4340810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8b4340810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704d2800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d704d2800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b4340810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b4340810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7652f17c8_0_1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97652f17c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b4340810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8b4340810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maller area and lower power without performance degradation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704d280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704d280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Smaller area and lower power without performance degradation. YEN AND YIXUAN  BEFORE SA Around 884ps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7895bfb3d_6_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7895bfb3d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97895bfb3d_6_1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97895bfb3d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8b4340810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8b4340810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.png"/><Relationship Id="rId5" Type="http://schemas.openxmlformats.org/officeDocument/2006/relationships/image" Target="../media/image35.png"/><Relationship Id="rId6" Type="http://schemas.openxmlformats.org/officeDocument/2006/relationships/image" Target="../media/image22.png"/><Relationship Id="rId7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r>
              <a:rPr lang="en"/>
              <a:t>T </a:t>
            </a:r>
            <a:r>
              <a:rPr lang="en"/>
              <a:t>Configurable Memory (BCAM/TCAM/SRAM) </a:t>
            </a:r>
            <a:r>
              <a:rPr lang="en"/>
              <a:t>Cell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Yixuan Huang, Hoang Yen Tran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31425" y="4287275"/>
            <a:ext cx="7383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  <a:highlight>
                  <a:schemeClr val="lt1"/>
                </a:highlight>
              </a:rPr>
              <a:t>S. Jeloka, N. B. Akesh, D. Sylvester and D. Blaauw, "A 28 nm Configurable Memory (TCAM/BCAM/SRAM) Using Push-Rule 6T Bit Cell Enabling Logic-in-Memory," in </a:t>
            </a:r>
            <a:r>
              <a:rPr i="1" lang="en" sz="1000">
                <a:solidFill>
                  <a:schemeClr val="dk2"/>
                </a:solidFill>
                <a:highlight>
                  <a:schemeClr val="lt1"/>
                </a:highlight>
              </a:rPr>
              <a:t>IEEE Journal of Solid-State Circuits</a:t>
            </a:r>
            <a:r>
              <a:rPr lang="en" sz="1000">
                <a:solidFill>
                  <a:schemeClr val="dk2"/>
                </a:solidFill>
                <a:highlight>
                  <a:schemeClr val="lt1"/>
                </a:highlight>
              </a:rPr>
              <a:t>, vol. 51, no. 4, pp. 1009-1021, April 2016, doi: 10.1109/JSSC.2016.2515510.</a:t>
            </a:r>
            <a:endParaRPr sz="12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Conventional BCAM/TCAM Cell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759525" y="4037875"/>
            <a:ext cx="2701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Adapted from Jeloka et al., IEEE JSSC, 2016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25" y="1152474"/>
            <a:ext cx="7590676" cy="28232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5"/>
          <p:cNvGrpSpPr/>
          <p:nvPr/>
        </p:nvGrpSpPr>
        <p:grpSpPr>
          <a:xfrm>
            <a:off x="4849200" y="379600"/>
            <a:ext cx="3860100" cy="3978113"/>
            <a:chOff x="4849200" y="379600"/>
            <a:chExt cx="3860100" cy="3978113"/>
          </a:xfrm>
        </p:grpSpPr>
        <p:pic>
          <p:nvPicPr>
            <p:cNvPr id="71" name="Google Shape;71;p15" title="bcam_10T_mismatch.png"/>
            <p:cNvPicPr preferRelativeResize="0"/>
            <p:nvPr/>
          </p:nvPicPr>
          <p:blipFill rotWithShape="1">
            <a:blip r:embed="rId3">
              <a:alphaModFix/>
            </a:blip>
            <a:srcRect b="0" l="0" r="36609" t="0"/>
            <a:stretch/>
          </p:blipFill>
          <p:spPr>
            <a:xfrm>
              <a:off x="4849200" y="445013"/>
              <a:ext cx="3860100" cy="3912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5"/>
            <p:cNvSpPr/>
            <p:nvPr/>
          </p:nvSpPr>
          <p:spPr>
            <a:xfrm>
              <a:off x="6305500" y="1431475"/>
              <a:ext cx="240600" cy="747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6354750" y="606650"/>
              <a:ext cx="240600" cy="572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6120025" y="379600"/>
              <a:ext cx="475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write</a:t>
              </a:r>
              <a:endParaRPr sz="800"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6686725" y="379600"/>
              <a:ext cx="139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accent1"/>
                  </a:solidFill>
                </a:rPr>
                <a:t>Search: mismatch</a:t>
              </a:r>
              <a:endParaRPr sz="800">
                <a:solidFill>
                  <a:schemeClr val="accen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accent1"/>
                </a:solidFill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6666100" y="528675"/>
              <a:ext cx="772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no write</a:t>
              </a:r>
              <a:endParaRPr sz="8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686725" y="3297025"/>
              <a:ext cx="240600" cy="7476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chemeClr val="accent1"/>
                </a:highlight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6686725" y="2170525"/>
              <a:ext cx="207000" cy="4617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chemeClr val="accent1"/>
                </a:highlight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6811275" y="1071688"/>
              <a:ext cx="240600" cy="10800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Conventional 10T BCAM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4">
            <a:alphaModFix/>
          </a:blip>
          <a:srcRect b="7278" l="24933" r="27475" t="1969"/>
          <a:stretch/>
        </p:blipFill>
        <p:spPr>
          <a:xfrm>
            <a:off x="167725" y="1017725"/>
            <a:ext cx="4545634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5"/>
          <p:cNvCxnSpPr/>
          <p:nvPr/>
        </p:nvCxnSpPr>
        <p:spPr>
          <a:xfrm>
            <a:off x="6622775" y="445013"/>
            <a:ext cx="15900" cy="375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" name="Google Shape;85;p15"/>
          <p:cNvCxnSpPr/>
          <p:nvPr/>
        </p:nvCxnSpPr>
        <p:spPr>
          <a:xfrm>
            <a:off x="7317050" y="420163"/>
            <a:ext cx="5400" cy="381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6621350" y="411475"/>
            <a:ext cx="3000" cy="40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40750" y="38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Conventional 16T schematics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/>
          </a:blip>
          <a:srcRect b="24203" l="8168" r="666" t="17492"/>
          <a:stretch/>
        </p:blipFill>
        <p:spPr>
          <a:xfrm>
            <a:off x="37950" y="996750"/>
            <a:ext cx="4761174" cy="299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57566" t="0"/>
          <a:stretch/>
        </p:blipFill>
        <p:spPr>
          <a:xfrm>
            <a:off x="4856075" y="424500"/>
            <a:ext cx="2765149" cy="389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3213"/>
            <a:ext cx="4753369" cy="252118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588725" y="3964400"/>
            <a:ext cx="2701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Adapted from Jeloka et al., IEEE JSSC, 2016</a:t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5224750" y="1152475"/>
            <a:ext cx="360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Traditional cell has high transistor 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-&gt; Smaller area and lower power without much performance degradation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1523275" y="1152475"/>
            <a:ext cx="2479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Conventional CAM search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Memory Cell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 b="0" l="36407" r="0" t="0"/>
          <a:stretch/>
        </p:blipFill>
        <p:spPr>
          <a:xfrm>
            <a:off x="355350" y="1119975"/>
            <a:ext cx="3930037" cy="322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4180200"/>
            <a:ext cx="2701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Adapted from Jeloka et al., IEEE JSSC, 2016</a:t>
            </a:r>
            <a:endParaRPr/>
          </a:p>
        </p:txBody>
      </p:sp>
      <p:pic>
        <p:nvPicPr>
          <p:cNvPr id="115" name="Google Shape;115;p18" title="proposed_schematic_cell.png"/>
          <p:cNvPicPr preferRelativeResize="0"/>
          <p:nvPr/>
        </p:nvPicPr>
        <p:blipFill rotWithShape="1">
          <a:blip r:embed="rId4">
            <a:alphaModFix/>
          </a:blip>
          <a:srcRect b="0" l="17966" r="21110" t="1215"/>
          <a:stretch/>
        </p:blipFill>
        <p:spPr>
          <a:xfrm>
            <a:off x="4259700" y="860824"/>
            <a:ext cx="441676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42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Proposed Memory Array: Search Operation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 b="93535" l="51755" r="28609" t="1615"/>
          <a:stretch/>
        </p:blipFill>
        <p:spPr>
          <a:xfrm>
            <a:off x="1431046" y="1706107"/>
            <a:ext cx="1545901" cy="1995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55350" y="4638625"/>
            <a:ext cx="2701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Adapted from Jeloka et al., IEEE JSSC, 2016</a:t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902" l="44689" r="28339" t="43422"/>
          <a:stretch/>
        </p:blipFill>
        <p:spPr>
          <a:xfrm>
            <a:off x="873487" y="1905653"/>
            <a:ext cx="2123258" cy="229089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698071" y="2143182"/>
            <a:ext cx="1755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350" lIns="107350" spcFirstLastPara="1" rIns="107350" wrap="square" tIns="10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4">
              <a:solidFill>
                <a:schemeClr val="dk2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214231" y="2024925"/>
            <a:ext cx="8397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350" lIns="107350" spcFirstLastPara="1" rIns="107350" wrap="square" tIns="10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9">
                <a:solidFill>
                  <a:schemeClr val="dk2"/>
                </a:solidFill>
              </a:rPr>
              <a:t>S1 = 0</a:t>
            </a:r>
            <a:endParaRPr sz="1409">
              <a:solidFill>
                <a:schemeClr val="dk2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245900" y="2722025"/>
            <a:ext cx="11499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350" lIns="107350" spcFirstLastPara="1" rIns="107350" wrap="square" tIns="10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9">
                <a:solidFill>
                  <a:schemeClr val="dk2"/>
                </a:solidFill>
              </a:rPr>
              <a:t>S2 = 1</a:t>
            </a:r>
            <a:endParaRPr sz="1409">
              <a:solidFill>
                <a:schemeClr val="dk2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600017" y="2052655"/>
            <a:ext cx="338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350" lIns="107350" spcFirstLastPara="1" rIns="107350" wrap="square" tIns="107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7">
                <a:solidFill>
                  <a:schemeClr val="dk1"/>
                </a:solidFill>
                <a:highlight>
                  <a:srgbClr val="B6DEEA"/>
                </a:highlight>
              </a:rPr>
              <a:t>1</a:t>
            </a:r>
            <a:endParaRPr sz="1057">
              <a:solidFill>
                <a:schemeClr val="dk1"/>
              </a:solidFill>
              <a:highlight>
                <a:srgbClr val="B6DEEA"/>
              </a:highlight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1742617" y="2052655"/>
            <a:ext cx="338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350" lIns="107350" spcFirstLastPara="1" rIns="107350" wrap="square" tIns="107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7">
                <a:solidFill>
                  <a:schemeClr val="dk1"/>
                </a:solidFill>
                <a:highlight>
                  <a:srgbClr val="B6DEEA"/>
                </a:highlight>
              </a:rPr>
              <a:t>0</a:t>
            </a:r>
            <a:endParaRPr sz="1057">
              <a:solidFill>
                <a:schemeClr val="dk1"/>
              </a:solidFill>
              <a:highlight>
                <a:srgbClr val="B6DEEA"/>
              </a:highlight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1765865" y="2722033"/>
            <a:ext cx="338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350" lIns="107350" spcFirstLastPara="1" rIns="107350" wrap="square" tIns="107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7">
                <a:solidFill>
                  <a:schemeClr val="dk1"/>
                </a:solidFill>
                <a:highlight>
                  <a:srgbClr val="B6DEEA"/>
                </a:highlight>
              </a:rPr>
              <a:t>1</a:t>
            </a:r>
            <a:endParaRPr sz="1057">
              <a:solidFill>
                <a:schemeClr val="dk1"/>
              </a:solidFill>
              <a:highlight>
                <a:srgbClr val="B6DEEA"/>
              </a:highlight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600017" y="2722033"/>
            <a:ext cx="3384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350" lIns="107350" spcFirstLastPara="1" rIns="107350" wrap="square" tIns="107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7">
                <a:solidFill>
                  <a:schemeClr val="dk1"/>
                </a:solidFill>
                <a:highlight>
                  <a:srgbClr val="B6DEEA"/>
                </a:highlight>
              </a:rPr>
              <a:t>0</a:t>
            </a:r>
            <a:endParaRPr sz="1057">
              <a:solidFill>
                <a:schemeClr val="dk1"/>
              </a:solidFill>
              <a:highlight>
                <a:srgbClr val="B6DEEA"/>
              </a:highlight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480025" y="3652575"/>
            <a:ext cx="83100" cy="1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2851800" y="3387375"/>
            <a:ext cx="233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1681000" y="3967300"/>
            <a:ext cx="291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  <a:highlight>
                  <a:schemeClr val="lt1"/>
                </a:highlight>
              </a:rPr>
              <a:t> 1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765875" y="3603075"/>
            <a:ext cx="291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  <a:highlight>
                  <a:schemeClr val="lt1"/>
                </a:highlight>
              </a:rPr>
              <a:t> 1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1742625" y="3238850"/>
            <a:ext cx="502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highlight>
                  <a:schemeClr val="lt1"/>
                </a:highlight>
              </a:rPr>
              <a:t>fgdfaa</a:t>
            </a:r>
            <a:endParaRPr sz="80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1938425" y="3219700"/>
            <a:ext cx="291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  <a:highlight>
                  <a:schemeClr val="lt1"/>
                </a:highlight>
              </a:rPr>
              <a:t> 1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1824075" y="2128175"/>
            <a:ext cx="175500" cy="8571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2588925" y="2163150"/>
            <a:ext cx="175500" cy="8220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pic>
        <p:nvPicPr>
          <p:cNvPr id="140" name="Google Shape;140;p19" title="OVERAL_READ.png"/>
          <p:cNvPicPr preferRelativeResize="0"/>
          <p:nvPr/>
        </p:nvPicPr>
        <p:blipFill rotWithShape="1">
          <a:blip r:embed="rId4">
            <a:alphaModFix/>
          </a:blip>
          <a:srcRect b="0" l="0" r="44336" t="0"/>
          <a:stretch/>
        </p:blipFill>
        <p:spPr>
          <a:xfrm>
            <a:off x="4129350" y="539700"/>
            <a:ext cx="3201750" cy="4170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5893625" y="3868275"/>
            <a:ext cx="476100" cy="5727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5851025" y="888150"/>
            <a:ext cx="200700" cy="43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5851025" y="3024350"/>
            <a:ext cx="233700" cy="572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5987025" y="631575"/>
            <a:ext cx="1224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Start searching operation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6051725" y="3101150"/>
            <a:ext cx="1224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Start searching operation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6421450" y="3829600"/>
            <a:ext cx="1224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Mistmatched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851025" y="1341150"/>
            <a:ext cx="476100" cy="8220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6327125" y="1622550"/>
            <a:ext cx="1224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Matched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398150" y="4395625"/>
            <a:ext cx="17010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Time(ns)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580.65mV</a:t>
            </a:r>
            <a:endParaRPr/>
          </a:p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" name="Google Shape;157;p20" title="BCAM_ARRAY_READ.png"/>
          <p:cNvPicPr preferRelativeResize="0"/>
          <p:nvPr/>
        </p:nvPicPr>
        <p:blipFill rotWithShape="1">
          <a:blip r:embed="rId3">
            <a:alphaModFix/>
          </a:blip>
          <a:srcRect b="3312" l="17945" r="11324" t="3116"/>
          <a:stretch/>
        </p:blipFill>
        <p:spPr>
          <a:xfrm>
            <a:off x="187000" y="514825"/>
            <a:ext cx="3282501" cy="39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DELAY_ARRAY_READ.png"/>
          <p:cNvPicPr preferRelativeResize="0"/>
          <p:nvPr/>
        </p:nvPicPr>
        <p:blipFill rotWithShape="1">
          <a:blip r:embed="rId4">
            <a:alphaModFix/>
          </a:blip>
          <a:srcRect b="0" l="0" r="28464" t="0"/>
          <a:stretch/>
        </p:blipFill>
        <p:spPr>
          <a:xfrm>
            <a:off x="3989200" y="550443"/>
            <a:ext cx="4542925" cy="367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311700" y="409350"/>
            <a:ext cx="745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</a:t>
            </a:r>
            <a:r>
              <a:rPr lang="en"/>
              <a:t>Memory </a:t>
            </a:r>
            <a:r>
              <a:rPr lang="en"/>
              <a:t>Array: Search Problem</a:t>
            </a:r>
            <a:endParaRPr/>
          </a:p>
        </p:txBody>
      </p:sp>
      <p:pic>
        <p:nvPicPr>
          <p:cNvPr id="164" name="Google Shape;164;p21"/>
          <p:cNvPicPr preferRelativeResize="0"/>
          <p:nvPr/>
        </p:nvPicPr>
        <p:blipFill rotWithShape="1">
          <a:blip r:embed="rId3">
            <a:alphaModFix/>
          </a:blip>
          <a:srcRect b="1215" l="8357" r="58322" t="0"/>
          <a:stretch/>
        </p:blipFill>
        <p:spPr>
          <a:xfrm>
            <a:off x="1537900" y="1751800"/>
            <a:ext cx="1048651" cy="271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120850" y="4568850"/>
            <a:ext cx="2701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Adapted and Modified from Jeloka et al., IEEE JSSC, 2016</a:t>
            </a:r>
            <a:endParaRPr/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21" title="SHOW READ PROBLEM.png"/>
          <p:cNvPicPr preferRelativeResize="0"/>
          <p:nvPr/>
        </p:nvPicPr>
        <p:blipFill rotWithShape="1">
          <a:blip r:embed="rId4">
            <a:alphaModFix/>
          </a:blip>
          <a:srcRect b="0" l="0" r="52476" t="0"/>
          <a:stretch/>
        </p:blipFill>
        <p:spPr>
          <a:xfrm>
            <a:off x="4269275" y="842825"/>
            <a:ext cx="3278507" cy="41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5992775" y="4763275"/>
            <a:ext cx="6861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time(ns)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6305075" y="999800"/>
            <a:ext cx="373800" cy="66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5437875" y="1647600"/>
            <a:ext cx="214200" cy="471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6108100" y="2083300"/>
            <a:ext cx="548700" cy="89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6384875" y="3004550"/>
            <a:ext cx="214200" cy="421500"/>
          </a:xfrm>
          <a:prstGeom prst="rect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6427875" y="3450600"/>
            <a:ext cx="177600" cy="421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656800" y="1107000"/>
            <a:ext cx="1224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Start searching operation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6621350" y="2735100"/>
            <a:ext cx="957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Match/Mistmatch period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6621350" y="3415700"/>
            <a:ext cx="1224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Data Overwritten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1-&gt;0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5">
            <a:alphaModFix/>
          </a:blip>
          <a:srcRect b="43326" l="14295" r="74663" t="27479"/>
          <a:stretch/>
        </p:blipFill>
        <p:spPr>
          <a:xfrm>
            <a:off x="458425" y="1134250"/>
            <a:ext cx="790424" cy="109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58794" l="9168" r="58321" t="5111"/>
          <a:stretch/>
        </p:blipFill>
        <p:spPr>
          <a:xfrm>
            <a:off x="1563400" y="2889225"/>
            <a:ext cx="1023149" cy="99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b="41217" l="8357" r="58322" t="24734"/>
          <a:stretch/>
        </p:blipFill>
        <p:spPr>
          <a:xfrm>
            <a:off x="1537900" y="1188200"/>
            <a:ext cx="1048651" cy="93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/>
          <p:cNvPicPr preferRelativeResize="0"/>
          <p:nvPr/>
        </p:nvPicPr>
        <p:blipFill rotWithShape="1">
          <a:blip r:embed="rId3">
            <a:alphaModFix/>
          </a:blip>
          <a:srcRect b="93997" l="8357" r="58322" t="0"/>
          <a:stretch/>
        </p:blipFill>
        <p:spPr>
          <a:xfrm>
            <a:off x="1524450" y="1041050"/>
            <a:ext cx="1075551" cy="16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 rotWithShape="1">
          <a:blip r:embed="rId5">
            <a:alphaModFix/>
          </a:blip>
          <a:srcRect b="43326" l="22345" r="74663" t="42849"/>
          <a:stretch/>
        </p:blipFill>
        <p:spPr>
          <a:xfrm>
            <a:off x="1034650" y="2083300"/>
            <a:ext cx="214198" cy="51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 rotWithShape="1">
          <a:blip r:embed="rId5">
            <a:alphaModFix/>
          </a:blip>
          <a:srcRect b="46837" l="17144" r="80763" t="42643"/>
          <a:stretch/>
        </p:blipFill>
        <p:spPr>
          <a:xfrm>
            <a:off x="656125" y="1275500"/>
            <a:ext cx="149827" cy="39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 rotWithShape="1">
          <a:blip r:embed="rId5">
            <a:alphaModFix/>
          </a:blip>
          <a:srcRect b="46837" l="17144" r="80763" t="42643"/>
          <a:stretch/>
        </p:blipFill>
        <p:spPr>
          <a:xfrm>
            <a:off x="656125" y="2083300"/>
            <a:ext cx="149827" cy="39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/>
          <p:cNvPicPr preferRelativeResize="0"/>
          <p:nvPr/>
        </p:nvPicPr>
        <p:blipFill rotWithShape="1">
          <a:blip r:embed="rId5">
            <a:alphaModFix/>
          </a:blip>
          <a:srcRect b="58072" l="22856" r="75334" t="32039"/>
          <a:stretch/>
        </p:blipFill>
        <p:spPr>
          <a:xfrm>
            <a:off x="1061087" y="2048125"/>
            <a:ext cx="129575" cy="37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 rotWithShape="1">
          <a:blip r:embed="rId5">
            <a:alphaModFix/>
          </a:blip>
          <a:srcRect b="57425" l="22861" r="75328" t="36021"/>
          <a:stretch/>
        </p:blipFill>
        <p:spPr>
          <a:xfrm>
            <a:off x="1061075" y="1647600"/>
            <a:ext cx="129598" cy="24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 rotWithShape="1">
          <a:blip r:embed="rId5">
            <a:alphaModFix/>
          </a:blip>
          <a:srcRect b="57425" l="22861" r="75328" t="36959"/>
          <a:stretch/>
        </p:blipFill>
        <p:spPr>
          <a:xfrm>
            <a:off x="1061075" y="1837975"/>
            <a:ext cx="129598" cy="2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5">
            <a:alphaModFix/>
          </a:blip>
          <a:srcRect b="53368" l="22634" r="75556" t="42225"/>
          <a:stretch/>
        </p:blipFill>
        <p:spPr>
          <a:xfrm>
            <a:off x="1061075" y="1482700"/>
            <a:ext cx="129598" cy="16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5">
            <a:alphaModFix/>
          </a:blip>
          <a:srcRect b="46836" l="17426" r="80763" t="46610"/>
          <a:stretch/>
        </p:blipFill>
        <p:spPr>
          <a:xfrm>
            <a:off x="1563400" y="3570312"/>
            <a:ext cx="87160" cy="16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5">
            <a:alphaModFix/>
          </a:blip>
          <a:srcRect b="46836" l="17426" r="80763" t="46610"/>
          <a:stretch/>
        </p:blipFill>
        <p:spPr>
          <a:xfrm>
            <a:off x="1563400" y="2571750"/>
            <a:ext cx="87160" cy="16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5">
            <a:alphaModFix/>
          </a:blip>
          <a:srcRect b="46836" l="17426" r="80763" t="46610"/>
          <a:stretch/>
        </p:blipFill>
        <p:spPr>
          <a:xfrm>
            <a:off x="1563400" y="1334050"/>
            <a:ext cx="87160" cy="16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311700" y="342150"/>
            <a:ext cx="591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/>
              <a:t>Proposed Memory Array: Search’s Solution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7" name="Google Shape;197;p22" title="SOLVE_SOLUTION_FOR_READ.png"/>
          <p:cNvPicPr preferRelativeResize="0"/>
          <p:nvPr/>
        </p:nvPicPr>
        <p:blipFill rotWithShape="1">
          <a:blip r:embed="rId3">
            <a:alphaModFix/>
          </a:blip>
          <a:srcRect b="0" l="0" r="66919" t="0"/>
          <a:stretch/>
        </p:blipFill>
        <p:spPr>
          <a:xfrm>
            <a:off x="4962725" y="751150"/>
            <a:ext cx="2492299" cy="429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4">
            <a:alphaModFix/>
          </a:blip>
          <a:srcRect b="43326" l="14295" r="74663" t="27479"/>
          <a:stretch/>
        </p:blipFill>
        <p:spPr>
          <a:xfrm>
            <a:off x="311700" y="1751475"/>
            <a:ext cx="790424" cy="109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4">
            <a:alphaModFix/>
          </a:blip>
          <a:srcRect b="43326" l="22345" r="74663" t="42849"/>
          <a:stretch/>
        </p:blipFill>
        <p:spPr>
          <a:xfrm>
            <a:off x="887925" y="2700525"/>
            <a:ext cx="214198" cy="51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 rotWithShape="1">
          <a:blip r:embed="rId4">
            <a:alphaModFix/>
          </a:blip>
          <a:srcRect b="46837" l="17144" r="80763" t="42643"/>
          <a:stretch/>
        </p:blipFill>
        <p:spPr>
          <a:xfrm>
            <a:off x="509400" y="1892725"/>
            <a:ext cx="149827" cy="39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 rotWithShape="1">
          <a:blip r:embed="rId4">
            <a:alphaModFix/>
          </a:blip>
          <a:srcRect b="46837" l="17144" r="80763" t="42643"/>
          <a:stretch/>
        </p:blipFill>
        <p:spPr>
          <a:xfrm>
            <a:off x="509400" y="2700525"/>
            <a:ext cx="149827" cy="39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 rotWithShape="1">
          <a:blip r:embed="rId4">
            <a:alphaModFix/>
          </a:blip>
          <a:srcRect b="58072" l="22856" r="75334" t="32039"/>
          <a:stretch/>
        </p:blipFill>
        <p:spPr>
          <a:xfrm>
            <a:off x="914362" y="2665350"/>
            <a:ext cx="129575" cy="37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 rotWithShape="1">
          <a:blip r:embed="rId4">
            <a:alphaModFix/>
          </a:blip>
          <a:srcRect b="57425" l="22861" r="75328" t="36021"/>
          <a:stretch/>
        </p:blipFill>
        <p:spPr>
          <a:xfrm>
            <a:off x="914350" y="2264825"/>
            <a:ext cx="129598" cy="24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 rotWithShape="1">
          <a:blip r:embed="rId4">
            <a:alphaModFix/>
          </a:blip>
          <a:srcRect b="57425" l="22861" r="75328" t="36959"/>
          <a:stretch/>
        </p:blipFill>
        <p:spPr>
          <a:xfrm>
            <a:off x="914350" y="2455200"/>
            <a:ext cx="129598" cy="2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 rotWithShape="1">
          <a:blip r:embed="rId4">
            <a:alphaModFix/>
          </a:blip>
          <a:srcRect b="53368" l="22634" r="75556" t="42225"/>
          <a:stretch/>
        </p:blipFill>
        <p:spPr>
          <a:xfrm>
            <a:off x="914350" y="2099925"/>
            <a:ext cx="129598" cy="1648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6496850" y="4880975"/>
            <a:ext cx="6861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time(ns)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 rotWithShape="1">
          <a:blip r:embed="rId5">
            <a:alphaModFix/>
          </a:blip>
          <a:srcRect b="0" l="18241" r="0" t="0"/>
          <a:stretch/>
        </p:blipFill>
        <p:spPr>
          <a:xfrm>
            <a:off x="1952450" y="867775"/>
            <a:ext cx="1101175" cy="262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2450" y="1975200"/>
            <a:ext cx="129600" cy="1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0950" y="3271375"/>
            <a:ext cx="1064175" cy="9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1695425" y="813225"/>
            <a:ext cx="16152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F9900"/>
                </a:solidFill>
                <a:highlight>
                  <a:schemeClr val="lt1"/>
                </a:highlight>
              </a:rPr>
              <a:t>Vdd_Lo = 0.5V</a:t>
            </a:r>
            <a:endParaRPr sz="850">
              <a:solidFill>
                <a:srgbClr val="FF9900"/>
              </a:solidFill>
              <a:highlight>
                <a:schemeClr val="lt1"/>
              </a:highlight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2601625" y="813225"/>
            <a:ext cx="16152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FF0000"/>
                </a:solidFill>
                <a:highlight>
                  <a:schemeClr val="lt1"/>
                </a:highlight>
              </a:rPr>
              <a:t>Vdd_H = 1V</a:t>
            </a:r>
            <a:endParaRPr sz="85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Configurable Sense Amplifier</a:t>
            </a:r>
            <a:endParaRPr/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74" y="1152475"/>
            <a:ext cx="2259995" cy="27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311700" y="3886225"/>
            <a:ext cx="2701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Adapted from Jeloka et al., IEEE JSSC, 2016</a:t>
            </a:r>
            <a:endParaRPr/>
          </a:p>
        </p:txBody>
      </p:sp>
      <p:sp>
        <p:nvSpPr>
          <p:cNvPr id="220" name="Google Shape;22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" name="Google Shape;221;p23" title="SA_schematic.png"/>
          <p:cNvPicPr preferRelativeResize="0"/>
          <p:nvPr/>
        </p:nvPicPr>
        <p:blipFill rotWithShape="1">
          <a:blip r:embed="rId4">
            <a:alphaModFix/>
          </a:blip>
          <a:srcRect b="17824" l="28513" r="39417" t="0"/>
          <a:stretch/>
        </p:blipFill>
        <p:spPr>
          <a:xfrm>
            <a:off x="3772150" y="966775"/>
            <a:ext cx="3448274" cy="40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4" title="SA_schematic.png"/>
          <p:cNvPicPr preferRelativeResize="0"/>
          <p:nvPr/>
        </p:nvPicPr>
        <p:blipFill rotWithShape="1">
          <a:blip r:embed="rId3">
            <a:alphaModFix/>
          </a:blip>
          <a:srcRect b="17824" l="28513" r="39417" t="0"/>
          <a:stretch/>
        </p:blipFill>
        <p:spPr>
          <a:xfrm>
            <a:off x="492650" y="1090825"/>
            <a:ext cx="2860052" cy="339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title="cam_differentialS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250" y="1152325"/>
            <a:ext cx="4984726" cy="320302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Configurable SA: CAM mode</a:t>
            </a:r>
            <a:endParaRPr/>
          </a:p>
        </p:txBody>
      </p:sp>
      <p:sp>
        <p:nvSpPr>
          <p:cNvPr id="229" name="Google Shape;22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6166900" y="607150"/>
            <a:ext cx="166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sample</a:t>
            </a:r>
            <a:endParaRPr sz="900">
              <a:solidFill>
                <a:schemeClr val="dk2"/>
              </a:solidFill>
            </a:endParaRPr>
          </a:p>
        </p:txBody>
      </p:sp>
      <p:grpSp>
        <p:nvGrpSpPr>
          <p:cNvPr id="231" name="Google Shape;231;p24"/>
          <p:cNvGrpSpPr/>
          <p:nvPr/>
        </p:nvGrpSpPr>
        <p:grpSpPr>
          <a:xfrm>
            <a:off x="3765850" y="773525"/>
            <a:ext cx="5028900" cy="3919500"/>
            <a:chOff x="3409425" y="767725"/>
            <a:chExt cx="5028900" cy="3919500"/>
          </a:xfrm>
        </p:grpSpPr>
        <p:cxnSp>
          <p:nvCxnSpPr>
            <p:cNvPr id="232" name="Google Shape;232;p24"/>
            <p:cNvCxnSpPr/>
            <p:nvPr/>
          </p:nvCxnSpPr>
          <p:spPr>
            <a:xfrm>
              <a:off x="6261938" y="1090825"/>
              <a:ext cx="11700" cy="359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233" name="Google Shape;233;p24"/>
            <p:cNvCxnSpPr/>
            <p:nvPr/>
          </p:nvCxnSpPr>
          <p:spPr>
            <a:xfrm>
              <a:off x="6041238" y="1090825"/>
              <a:ext cx="11700" cy="359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24"/>
            <p:cNvCxnSpPr/>
            <p:nvPr/>
          </p:nvCxnSpPr>
          <p:spPr>
            <a:xfrm>
              <a:off x="5039725" y="1034475"/>
              <a:ext cx="11700" cy="359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sp>
          <p:nvSpPr>
            <p:cNvPr id="235" name="Google Shape;235;p24"/>
            <p:cNvSpPr txBox="1"/>
            <p:nvPr/>
          </p:nvSpPr>
          <p:spPr>
            <a:xfrm>
              <a:off x="6769125" y="767725"/>
              <a:ext cx="1669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Amplifier turn on</a:t>
              </a:r>
              <a:endParaRPr sz="900">
                <a:solidFill>
                  <a:schemeClr val="dk2"/>
                </a:solidFill>
              </a:endParaRPr>
            </a:p>
          </p:txBody>
        </p:sp>
        <p:sp>
          <p:nvSpPr>
            <p:cNvPr id="236" name="Google Shape;236;p24"/>
            <p:cNvSpPr txBox="1"/>
            <p:nvPr/>
          </p:nvSpPr>
          <p:spPr>
            <a:xfrm>
              <a:off x="5006125" y="823425"/>
              <a:ext cx="1669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Input (bitline) change</a:t>
              </a:r>
              <a:endParaRPr sz="900">
                <a:solidFill>
                  <a:schemeClr val="dk2"/>
                </a:solidFill>
              </a:endParaRPr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5510250" y="1512400"/>
              <a:ext cx="435600" cy="448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6131113" y="3294225"/>
              <a:ext cx="232800" cy="487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930700" y="3683575"/>
              <a:ext cx="232800" cy="487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4"/>
            <p:cNvSpPr txBox="1"/>
            <p:nvPr/>
          </p:nvSpPr>
          <p:spPr>
            <a:xfrm>
              <a:off x="4175000" y="799600"/>
              <a:ext cx="1669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precharge</a:t>
              </a:r>
              <a:endParaRPr sz="900">
                <a:solidFill>
                  <a:schemeClr val="dk2"/>
                </a:solidFill>
              </a:endParaRPr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6183275" y="1804125"/>
              <a:ext cx="232800" cy="487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 txBox="1"/>
            <p:nvPr/>
          </p:nvSpPr>
          <p:spPr>
            <a:xfrm>
              <a:off x="3409425" y="4230675"/>
              <a:ext cx="166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Vref = 0.8V</a:t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5" title="sram_differential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575" y="1105325"/>
            <a:ext cx="4979201" cy="319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Configurable SA: SRAM mode</a:t>
            </a:r>
            <a:endParaRPr/>
          </a:p>
        </p:txBody>
      </p:sp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0" name="Google Shape;250;p25" title="SA_schematic.png"/>
          <p:cNvPicPr preferRelativeResize="0"/>
          <p:nvPr/>
        </p:nvPicPr>
        <p:blipFill rotWithShape="1">
          <a:blip r:embed="rId4">
            <a:alphaModFix/>
          </a:blip>
          <a:srcRect b="17824" l="28513" r="39417" t="0"/>
          <a:stretch/>
        </p:blipFill>
        <p:spPr>
          <a:xfrm>
            <a:off x="492650" y="1090825"/>
            <a:ext cx="2860052" cy="339234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4910450" y="782225"/>
            <a:ext cx="1669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Input (bitline) change</a:t>
            </a:r>
            <a:endParaRPr sz="900">
              <a:solidFill>
                <a:schemeClr val="dk2"/>
              </a:solidFill>
            </a:endParaRPr>
          </a:p>
        </p:txBody>
      </p:sp>
      <p:grpSp>
        <p:nvGrpSpPr>
          <p:cNvPr id="252" name="Google Shape;252;p25"/>
          <p:cNvGrpSpPr/>
          <p:nvPr/>
        </p:nvGrpSpPr>
        <p:grpSpPr>
          <a:xfrm>
            <a:off x="4465975" y="656750"/>
            <a:ext cx="3473850" cy="4044975"/>
            <a:chOff x="4199375" y="645150"/>
            <a:chExt cx="3473850" cy="4044975"/>
          </a:xfrm>
        </p:grpSpPr>
        <p:cxnSp>
          <p:nvCxnSpPr>
            <p:cNvPr id="253" name="Google Shape;253;p25"/>
            <p:cNvCxnSpPr/>
            <p:nvPr/>
          </p:nvCxnSpPr>
          <p:spPr>
            <a:xfrm>
              <a:off x="6092575" y="1093725"/>
              <a:ext cx="11700" cy="359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25"/>
            <p:cNvCxnSpPr/>
            <p:nvPr/>
          </p:nvCxnSpPr>
          <p:spPr>
            <a:xfrm>
              <a:off x="5916913" y="1042200"/>
              <a:ext cx="11700" cy="359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5"/>
            <p:cNvCxnSpPr/>
            <p:nvPr/>
          </p:nvCxnSpPr>
          <p:spPr>
            <a:xfrm>
              <a:off x="5028125" y="1062475"/>
              <a:ext cx="11700" cy="3596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sp>
          <p:nvSpPr>
            <p:cNvPr id="256" name="Google Shape;256;p25"/>
            <p:cNvSpPr txBox="1"/>
            <p:nvPr/>
          </p:nvSpPr>
          <p:spPr>
            <a:xfrm>
              <a:off x="6004025" y="799600"/>
              <a:ext cx="1669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Amplifier turn on</a:t>
              </a:r>
              <a:endParaRPr sz="900">
                <a:solidFill>
                  <a:schemeClr val="dk2"/>
                </a:solidFill>
              </a:endParaRPr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670625" y="1253900"/>
              <a:ext cx="373800" cy="669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 txBox="1"/>
            <p:nvPr/>
          </p:nvSpPr>
          <p:spPr>
            <a:xfrm>
              <a:off x="5633875" y="645150"/>
              <a:ext cx="1669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sample</a:t>
              </a:r>
              <a:endParaRPr sz="900"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6004025" y="3259975"/>
              <a:ext cx="232800" cy="487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5771225" y="3632600"/>
              <a:ext cx="232800" cy="487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5"/>
            <p:cNvSpPr txBox="1"/>
            <p:nvPr/>
          </p:nvSpPr>
          <p:spPr>
            <a:xfrm>
              <a:off x="4199375" y="829375"/>
              <a:ext cx="1669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precharge</a:t>
              </a:r>
              <a:endParaRPr sz="900">
                <a:solidFill>
                  <a:schemeClr val="dk2"/>
                </a:solidFill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6004025" y="1749050"/>
              <a:ext cx="232800" cy="487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25"/>
          <p:cNvSpPr txBox="1"/>
          <p:nvPr/>
        </p:nvSpPr>
        <p:spPr>
          <a:xfrm>
            <a:off x="6318275" y="1524675"/>
            <a:ext cx="228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</a:t>
            </a:r>
            <a:r>
              <a:rPr lang="en"/>
              <a:t>Memory </a:t>
            </a:r>
            <a:r>
              <a:rPr lang="en"/>
              <a:t>Array: Write Operation</a:t>
            </a: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4050"/>
            <a:ext cx="6153799" cy="283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>
            <p:ph idx="1" type="body"/>
          </p:nvPr>
        </p:nvSpPr>
        <p:spPr>
          <a:xfrm>
            <a:off x="434700" y="4155175"/>
            <a:ext cx="2701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Adapted from Jeloka et al., IEEE JSSC, 2016</a:t>
            </a:r>
            <a:endParaRPr/>
          </a:p>
        </p:txBody>
      </p:sp>
      <p:sp>
        <p:nvSpPr>
          <p:cNvPr id="271" name="Google Shape;27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Proposed Memory Array: Write Operation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8" name="Google Shape;278;p27"/>
          <p:cNvGrpSpPr/>
          <p:nvPr/>
        </p:nvGrpSpPr>
        <p:grpSpPr>
          <a:xfrm>
            <a:off x="-191475" y="1017725"/>
            <a:ext cx="9140225" cy="3399100"/>
            <a:chOff x="-191475" y="1017725"/>
            <a:chExt cx="9140225" cy="3399100"/>
          </a:xfrm>
        </p:grpSpPr>
        <p:grpSp>
          <p:nvGrpSpPr>
            <p:cNvPr id="279" name="Google Shape;279;p27"/>
            <p:cNvGrpSpPr/>
            <p:nvPr/>
          </p:nvGrpSpPr>
          <p:grpSpPr>
            <a:xfrm>
              <a:off x="-191475" y="1049600"/>
              <a:ext cx="5008114" cy="3355637"/>
              <a:chOff x="-191475" y="1049600"/>
              <a:chExt cx="5008114" cy="3355637"/>
            </a:xfrm>
          </p:grpSpPr>
          <p:pic>
            <p:nvPicPr>
              <p:cNvPr id="280" name="Google Shape;280;p27" title="proposed_schematic_write.png"/>
              <p:cNvPicPr preferRelativeResize="0"/>
              <p:nvPr/>
            </p:nvPicPr>
            <p:blipFill rotWithShape="1">
              <a:blip r:embed="rId3">
                <a:alphaModFix/>
              </a:blip>
              <a:srcRect b="14890" l="9989" r="16129" t="5783"/>
              <a:stretch/>
            </p:blipFill>
            <p:spPr>
              <a:xfrm>
                <a:off x="-191475" y="1063049"/>
                <a:ext cx="5008114" cy="33421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1" name="Google Shape;281;p27"/>
              <p:cNvSpPr/>
              <p:nvPr/>
            </p:nvSpPr>
            <p:spPr>
              <a:xfrm>
                <a:off x="959150" y="1469150"/>
                <a:ext cx="1127100" cy="2779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7"/>
              <p:cNvSpPr/>
              <p:nvPr/>
            </p:nvSpPr>
            <p:spPr>
              <a:xfrm>
                <a:off x="2773050" y="1471075"/>
                <a:ext cx="1127100" cy="2779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7"/>
              <p:cNvSpPr txBox="1"/>
              <p:nvPr/>
            </p:nvSpPr>
            <p:spPr>
              <a:xfrm>
                <a:off x="1601500" y="1074100"/>
                <a:ext cx="8934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2"/>
                    </a:solidFill>
                  </a:rPr>
                  <a:t>W</a:t>
                </a:r>
                <a:r>
                  <a:rPr lang="en" sz="1000">
                    <a:solidFill>
                      <a:schemeClr val="dk2"/>
                    </a:solidFill>
                  </a:rPr>
                  <a:t>rite: </a:t>
                </a:r>
                <a:endParaRPr sz="1000">
                  <a:solidFill>
                    <a:schemeClr val="dk2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2"/>
                    </a:solidFill>
                  </a:rPr>
                  <a:t>VDD = 0.5V</a:t>
                </a:r>
                <a:endParaRPr sz="1000">
                  <a:solidFill>
                    <a:schemeClr val="dk2"/>
                  </a:solidFill>
                </a:endParaRPr>
              </a:p>
            </p:txBody>
          </p:sp>
          <p:sp>
            <p:nvSpPr>
              <p:cNvPr id="284" name="Google Shape;284;p27"/>
              <p:cNvSpPr txBox="1"/>
              <p:nvPr/>
            </p:nvSpPr>
            <p:spPr>
              <a:xfrm>
                <a:off x="3020200" y="1049600"/>
                <a:ext cx="8934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2"/>
                    </a:solidFill>
                  </a:rPr>
                  <a:t>No w</a:t>
                </a:r>
                <a:r>
                  <a:rPr lang="en" sz="1000">
                    <a:solidFill>
                      <a:schemeClr val="dk2"/>
                    </a:solidFill>
                  </a:rPr>
                  <a:t>rite: </a:t>
                </a:r>
                <a:endParaRPr sz="1000">
                  <a:solidFill>
                    <a:schemeClr val="dk2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2"/>
                    </a:solidFill>
                  </a:rPr>
                  <a:t>VDD = 1V</a:t>
                </a:r>
                <a:endParaRPr sz="1000">
                  <a:solidFill>
                    <a:schemeClr val="dk2"/>
                  </a:solidFill>
                </a:endParaRPr>
              </a:p>
            </p:txBody>
          </p:sp>
        </p:grpSp>
        <p:pic>
          <p:nvPicPr>
            <p:cNvPr id="285" name="Google Shape;285;p27" title="write_proposed_test.png"/>
            <p:cNvPicPr preferRelativeResize="0"/>
            <p:nvPr/>
          </p:nvPicPr>
          <p:blipFill rotWithShape="1">
            <a:blip r:embed="rId4">
              <a:alphaModFix/>
            </a:blip>
            <a:srcRect b="0" l="0" r="5303" t="0"/>
            <a:stretch/>
          </p:blipFill>
          <p:spPr>
            <a:xfrm>
              <a:off x="4572000" y="1329200"/>
              <a:ext cx="4373349" cy="2967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6" name="Google Shape;286;p27"/>
            <p:cNvCxnSpPr/>
            <p:nvPr/>
          </p:nvCxnSpPr>
          <p:spPr>
            <a:xfrm>
              <a:off x="6356975" y="1188075"/>
              <a:ext cx="8700" cy="318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p27"/>
            <p:cNvCxnSpPr/>
            <p:nvPr/>
          </p:nvCxnSpPr>
          <p:spPr>
            <a:xfrm flipH="1">
              <a:off x="7848100" y="1283875"/>
              <a:ext cx="4200" cy="303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8" name="Google Shape;288;p27"/>
            <p:cNvCxnSpPr/>
            <p:nvPr/>
          </p:nvCxnSpPr>
          <p:spPr>
            <a:xfrm>
              <a:off x="7098275" y="1232325"/>
              <a:ext cx="8700" cy="318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89" name="Google Shape;289;p27"/>
            <p:cNvSpPr txBox="1"/>
            <p:nvPr/>
          </p:nvSpPr>
          <p:spPr>
            <a:xfrm>
              <a:off x="6365675" y="1017725"/>
              <a:ext cx="783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write 1</a:t>
              </a:r>
              <a:endParaRPr sz="1000">
                <a:solidFill>
                  <a:schemeClr val="dk2"/>
                </a:solidFill>
              </a:endParaRPr>
            </a:p>
          </p:txBody>
        </p:sp>
        <p:sp>
          <p:nvSpPr>
            <p:cNvPr id="290" name="Google Shape;290;p27"/>
            <p:cNvSpPr txBox="1"/>
            <p:nvPr/>
          </p:nvSpPr>
          <p:spPr>
            <a:xfrm>
              <a:off x="7137075" y="1017725"/>
              <a:ext cx="783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write 0</a:t>
              </a:r>
              <a:endParaRPr sz="1000">
                <a:solidFill>
                  <a:schemeClr val="dk2"/>
                </a:solidFill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6473575" y="2268925"/>
              <a:ext cx="228900" cy="437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6473575" y="1471075"/>
              <a:ext cx="228900" cy="264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6473575" y="3240200"/>
              <a:ext cx="248700" cy="634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7260575" y="2112725"/>
              <a:ext cx="228900" cy="264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7250675" y="2695025"/>
              <a:ext cx="248700" cy="393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7260575" y="3256400"/>
              <a:ext cx="248700" cy="634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7934575" y="1444125"/>
              <a:ext cx="248700" cy="8856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5666775" y="1422800"/>
              <a:ext cx="248700" cy="8856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7"/>
            <p:cNvSpPr txBox="1"/>
            <p:nvPr/>
          </p:nvSpPr>
          <p:spPr>
            <a:xfrm>
              <a:off x="5256500" y="1050925"/>
              <a:ext cx="106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1"/>
                  </a:solidFill>
                </a:rPr>
                <a:t>Before write</a:t>
              </a:r>
              <a:endParaRPr sz="1000">
                <a:solidFill>
                  <a:schemeClr val="accent1"/>
                </a:solidFill>
              </a:endParaRPr>
            </a:p>
          </p:txBody>
        </p:sp>
        <p:sp>
          <p:nvSpPr>
            <p:cNvPr id="300" name="Google Shape;300;p27"/>
            <p:cNvSpPr txBox="1"/>
            <p:nvPr/>
          </p:nvSpPr>
          <p:spPr>
            <a:xfrm>
              <a:off x="7880750" y="1029475"/>
              <a:ext cx="106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1"/>
                  </a:solidFill>
                </a:rPr>
                <a:t>after</a:t>
              </a:r>
              <a:r>
                <a:rPr lang="en" sz="1000">
                  <a:solidFill>
                    <a:schemeClr val="accent1"/>
                  </a:solidFill>
                </a:rPr>
                <a:t> write</a:t>
              </a:r>
              <a:endParaRPr sz="100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Array: SRAM Mode with Logic in Memory</a:t>
            </a:r>
            <a:endParaRPr/>
          </a:p>
        </p:txBody>
      </p:sp>
      <p:pic>
        <p:nvPicPr>
          <p:cNvPr id="306" name="Google Shape;3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4537"/>
            <a:ext cx="3000451" cy="264920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401125" y="3967375"/>
            <a:ext cx="26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Bitwise</a:t>
            </a:r>
            <a:r>
              <a:rPr lang="en" sz="1800">
                <a:solidFill>
                  <a:schemeClr val="dk2"/>
                </a:solidFill>
              </a:rPr>
              <a:t> AND Operation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8" name="Google Shape;308;p28"/>
          <p:cNvSpPr txBox="1"/>
          <p:nvPr>
            <p:ph idx="1" type="body"/>
          </p:nvPr>
        </p:nvSpPr>
        <p:spPr>
          <a:xfrm>
            <a:off x="461175" y="3698725"/>
            <a:ext cx="27015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Adapted from Jeloka et al., IEEE JSSC, 2016</a:t>
            </a:r>
            <a:endParaRPr/>
          </a:p>
        </p:txBody>
      </p:sp>
      <p:sp>
        <p:nvSpPr>
          <p:cNvPr id="309" name="Google Shape;3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0" name="Google Shape;310;p28" title="c5ca08bdb8bd2971e28fc6a563bea38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1950" y="1211624"/>
            <a:ext cx="5549200" cy="17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Proposed Array: SRAM Mode with Logic in Memory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4798650" y="901200"/>
            <a:ext cx="166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Row 1 &amp; Row 2</a:t>
            </a:r>
            <a:endParaRPr sz="1000">
              <a:solidFill>
                <a:schemeClr val="dk2"/>
              </a:solidFill>
            </a:endParaRPr>
          </a:p>
        </p:txBody>
      </p:sp>
      <p:grpSp>
        <p:nvGrpSpPr>
          <p:cNvPr id="319" name="Google Shape;319;p29"/>
          <p:cNvGrpSpPr/>
          <p:nvPr/>
        </p:nvGrpSpPr>
        <p:grpSpPr>
          <a:xfrm>
            <a:off x="3290850" y="775050"/>
            <a:ext cx="5240125" cy="3741400"/>
            <a:chOff x="3290850" y="813775"/>
            <a:chExt cx="5240125" cy="3741400"/>
          </a:xfrm>
        </p:grpSpPr>
        <p:pic>
          <p:nvPicPr>
            <p:cNvPr id="320" name="Google Shape;320;p29" title="CIM_AND_multipl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90850" y="982150"/>
              <a:ext cx="5240125" cy="33671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1" name="Google Shape;321;p29"/>
            <p:cNvCxnSpPr/>
            <p:nvPr/>
          </p:nvCxnSpPr>
          <p:spPr>
            <a:xfrm>
              <a:off x="5328950" y="1199675"/>
              <a:ext cx="52200" cy="335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29"/>
            <p:cNvCxnSpPr/>
            <p:nvPr/>
          </p:nvCxnSpPr>
          <p:spPr>
            <a:xfrm>
              <a:off x="6144950" y="934800"/>
              <a:ext cx="63900" cy="357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29"/>
            <p:cNvCxnSpPr/>
            <p:nvPr/>
          </p:nvCxnSpPr>
          <p:spPr>
            <a:xfrm>
              <a:off x="6992900" y="1129475"/>
              <a:ext cx="32100" cy="340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24" name="Google Shape;324;p29"/>
            <p:cNvSpPr/>
            <p:nvPr/>
          </p:nvSpPr>
          <p:spPr>
            <a:xfrm>
              <a:off x="5323150" y="1396725"/>
              <a:ext cx="168000" cy="32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5265325" y="2980600"/>
              <a:ext cx="168000" cy="32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5265325" y="2463625"/>
              <a:ext cx="168000" cy="327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6961050" y="1129475"/>
              <a:ext cx="168000" cy="3273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6946975" y="2463625"/>
              <a:ext cx="168000" cy="3273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6946975" y="2980600"/>
              <a:ext cx="168000" cy="3273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6946975" y="3497575"/>
              <a:ext cx="168000" cy="3273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9"/>
            <p:cNvSpPr txBox="1"/>
            <p:nvPr/>
          </p:nvSpPr>
          <p:spPr>
            <a:xfrm>
              <a:off x="4798650" y="901200"/>
              <a:ext cx="166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</a:rPr>
                <a:t>Row 1 &amp; Row 2</a:t>
              </a:r>
              <a:endParaRPr sz="1000">
                <a:solidFill>
                  <a:schemeClr val="dk2"/>
                </a:solidFill>
              </a:endParaRPr>
            </a:p>
          </p:txBody>
        </p:sp>
        <p:sp>
          <p:nvSpPr>
            <p:cNvPr id="332" name="Google Shape;332;p29"/>
            <p:cNvSpPr txBox="1"/>
            <p:nvPr/>
          </p:nvSpPr>
          <p:spPr>
            <a:xfrm>
              <a:off x="6255075" y="813775"/>
              <a:ext cx="1669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1"/>
                  </a:solidFill>
                </a:rPr>
                <a:t>Row 1 &amp; Row 2 &amp; Row 3</a:t>
              </a:r>
              <a:endParaRPr sz="1000">
                <a:solidFill>
                  <a:schemeClr val="accent1"/>
                </a:solidFill>
              </a:endParaRPr>
            </a:p>
          </p:txBody>
        </p:sp>
      </p:grpSp>
      <p:grpSp>
        <p:nvGrpSpPr>
          <p:cNvPr id="333" name="Google Shape;333;p29"/>
          <p:cNvGrpSpPr/>
          <p:nvPr/>
        </p:nvGrpSpPr>
        <p:grpSpPr>
          <a:xfrm>
            <a:off x="283057" y="1129557"/>
            <a:ext cx="2721747" cy="3331996"/>
            <a:chOff x="283075" y="1129475"/>
            <a:chExt cx="2807951" cy="3437174"/>
          </a:xfrm>
        </p:grpSpPr>
        <p:pic>
          <p:nvPicPr>
            <p:cNvPr id="334" name="Google Shape;334;p29" title="lim_schematic_tb.png"/>
            <p:cNvPicPr preferRelativeResize="0"/>
            <p:nvPr/>
          </p:nvPicPr>
          <p:blipFill rotWithShape="1">
            <a:blip r:embed="rId4">
              <a:alphaModFix/>
            </a:blip>
            <a:srcRect b="3621" l="34617" r="19689" t="17153"/>
            <a:stretch/>
          </p:blipFill>
          <p:spPr>
            <a:xfrm>
              <a:off x="283075" y="1129475"/>
              <a:ext cx="2807951" cy="3437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29"/>
            <p:cNvSpPr txBox="1"/>
            <p:nvPr/>
          </p:nvSpPr>
          <p:spPr>
            <a:xfrm>
              <a:off x="1373525" y="1309775"/>
              <a:ext cx="3708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8625" lIns="88625" spcFirstLastPara="1" rIns="88625" wrap="square" tIns="886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60">
                  <a:solidFill>
                    <a:schemeClr val="dk2"/>
                  </a:solidFill>
                </a:rPr>
                <a:t>1</a:t>
              </a:r>
              <a:endParaRPr b="1" sz="1260">
                <a:solidFill>
                  <a:schemeClr val="dk2"/>
                </a:solidFill>
              </a:endParaRPr>
            </a:p>
          </p:txBody>
        </p:sp>
        <p:sp>
          <p:nvSpPr>
            <p:cNvPr id="336" name="Google Shape;336;p29"/>
            <p:cNvSpPr txBox="1"/>
            <p:nvPr/>
          </p:nvSpPr>
          <p:spPr>
            <a:xfrm>
              <a:off x="1323075" y="1940325"/>
              <a:ext cx="3708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8625" lIns="88625" spcFirstLastPara="1" rIns="88625" wrap="square" tIns="886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60">
                  <a:solidFill>
                    <a:schemeClr val="dk2"/>
                  </a:solidFill>
                </a:rPr>
                <a:t>1</a:t>
              </a:r>
              <a:endParaRPr b="1" sz="1260">
                <a:solidFill>
                  <a:schemeClr val="dk2"/>
                </a:solidFill>
              </a:endParaRPr>
            </a:p>
          </p:txBody>
        </p:sp>
        <p:sp>
          <p:nvSpPr>
            <p:cNvPr id="337" name="Google Shape;337;p29"/>
            <p:cNvSpPr txBox="1"/>
            <p:nvPr/>
          </p:nvSpPr>
          <p:spPr>
            <a:xfrm>
              <a:off x="2283975" y="2638325"/>
              <a:ext cx="3708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8625" lIns="88625" spcFirstLastPara="1" rIns="88625" wrap="square" tIns="886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60">
                  <a:solidFill>
                    <a:schemeClr val="dk2"/>
                  </a:solidFill>
                </a:rPr>
                <a:t>1</a:t>
              </a:r>
              <a:endParaRPr b="1" sz="1260">
                <a:solidFill>
                  <a:schemeClr val="dk2"/>
                </a:solidFill>
              </a:endParaRPr>
            </a:p>
          </p:txBody>
        </p:sp>
        <p:sp>
          <p:nvSpPr>
            <p:cNvPr id="338" name="Google Shape;338;p29"/>
            <p:cNvSpPr txBox="1"/>
            <p:nvPr/>
          </p:nvSpPr>
          <p:spPr>
            <a:xfrm>
              <a:off x="2262475" y="1326525"/>
              <a:ext cx="3708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8625" lIns="88625" spcFirstLastPara="1" rIns="88625" wrap="square" tIns="886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60">
                  <a:solidFill>
                    <a:schemeClr val="dk2"/>
                  </a:solidFill>
                </a:rPr>
                <a:t>0</a:t>
              </a:r>
              <a:endParaRPr b="1" sz="1260">
                <a:solidFill>
                  <a:schemeClr val="dk2"/>
                </a:solidFill>
              </a:endParaRPr>
            </a:p>
          </p:txBody>
        </p:sp>
        <p:sp>
          <p:nvSpPr>
            <p:cNvPr id="339" name="Google Shape;339;p29"/>
            <p:cNvSpPr txBox="1"/>
            <p:nvPr/>
          </p:nvSpPr>
          <p:spPr>
            <a:xfrm>
              <a:off x="2322150" y="1928075"/>
              <a:ext cx="3708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8625" lIns="88625" spcFirstLastPara="1" rIns="88625" wrap="square" tIns="886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60">
                  <a:solidFill>
                    <a:schemeClr val="dk2"/>
                  </a:solidFill>
                </a:rPr>
                <a:t>0</a:t>
              </a:r>
              <a:endParaRPr b="1" sz="1260">
                <a:solidFill>
                  <a:schemeClr val="dk2"/>
                </a:solidFill>
              </a:endParaRPr>
            </a:p>
          </p:txBody>
        </p:sp>
        <p:sp>
          <p:nvSpPr>
            <p:cNvPr id="340" name="Google Shape;340;p29"/>
            <p:cNvSpPr txBox="1"/>
            <p:nvPr/>
          </p:nvSpPr>
          <p:spPr>
            <a:xfrm>
              <a:off x="1323075" y="2625250"/>
              <a:ext cx="3708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8625" lIns="88625" spcFirstLastPara="1" rIns="88625" wrap="square" tIns="886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60">
                  <a:solidFill>
                    <a:schemeClr val="dk2"/>
                  </a:solidFill>
                </a:rPr>
                <a:t>0</a:t>
              </a:r>
              <a:endParaRPr b="1" sz="126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- area</a:t>
            </a:r>
            <a:endParaRPr/>
          </a:p>
        </p:txBody>
      </p:sp>
      <p:sp>
        <p:nvSpPr>
          <p:cNvPr id="346" name="Google Shape;34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10T BCAM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10T BCAM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8" name="Google Shape;348;p30"/>
          <p:cNvPicPr preferRelativeResize="0"/>
          <p:nvPr/>
        </p:nvPicPr>
        <p:blipFill rotWithShape="1">
          <a:blip r:embed="rId3">
            <a:alphaModFix/>
          </a:blip>
          <a:srcRect b="7278" l="24933" r="27475" t="1969"/>
          <a:stretch/>
        </p:blipFill>
        <p:spPr>
          <a:xfrm>
            <a:off x="416925" y="1017725"/>
            <a:ext cx="3918001" cy="29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0" title="proposed_schematic_cell.png"/>
          <p:cNvPicPr preferRelativeResize="0"/>
          <p:nvPr/>
        </p:nvPicPr>
        <p:blipFill rotWithShape="1">
          <a:blip r:embed="rId4">
            <a:alphaModFix/>
          </a:blip>
          <a:srcRect b="0" l="17966" r="21110" t="1215"/>
          <a:stretch/>
        </p:blipFill>
        <p:spPr>
          <a:xfrm>
            <a:off x="4395850" y="1051800"/>
            <a:ext cx="3930025" cy="30399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30"/>
          <p:cNvGrpSpPr/>
          <p:nvPr/>
        </p:nvGrpSpPr>
        <p:grpSpPr>
          <a:xfrm>
            <a:off x="1927025" y="3964125"/>
            <a:ext cx="5519100" cy="461700"/>
            <a:chOff x="1927025" y="3964125"/>
            <a:chExt cx="5519100" cy="461700"/>
          </a:xfrm>
        </p:grpSpPr>
        <p:sp>
          <p:nvSpPr>
            <p:cNvPr id="351" name="Google Shape;351;p30"/>
            <p:cNvSpPr txBox="1"/>
            <p:nvPr/>
          </p:nvSpPr>
          <p:spPr>
            <a:xfrm>
              <a:off x="1927025" y="3964125"/>
              <a:ext cx="13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10T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52" name="Google Shape;352;p30"/>
            <p:cNvSpPr txBox="1"/>
            <p:nvPr/>
          </p:nvSpPr>
          <p:spPr>
            <a:xfrm>
              <a:off x="5105825" y="3964125"/>
              <a:ext cx="2340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6</a:t>
              </a:r>
              <a:r>
                <a:rPr lang="en" sz="1800">
                  <a:solidFill>
                    <a:schemeClr val="dk2"/>
                  </a:solidFill>
                </a:rPr>
                <a:t>T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353" name="Google Shape;353;p30"/>
            <p:cNvCxnSpPr>
              <a:stCxn id="351" idx="3"/>
              <a:endCxn id="352" idx="1"/>
            </p:cNvCxnSpPr>
            <p:nvPr/>
          </p:nvCxnSpPr>
          <p:spPr>
            <a:xfrm>
              <a:off x="3239825" y="4194975"/>
              <a:ext cx="18660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 txBox="1"/>
          <p:nvPr>
            <p:ph type="title"/>
          </p:nvPr>
        </p:nvSpPr>
        <p:spPr>
          <a:xfrm>
            <a:off x="2939775" y="306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- </a:t>
            </a:r>
            <a:r>
              <a:rPr lang="en"/>
              <a:t>latency</a:t>
            </a:r>
            <a:endParaRPr/>
          </a:p>
        </p:txBody>
      </p:sp>
      <p:sp>
        <p:nvSpPr>
          <p:cNvPr id="359" name="Google Shape;35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0" name="Google Shape;360;p31" title="COMPARING_WITH_SA.png"/>
          <p:cNvPicPr preferRelativeResize="0"/>
          <p:nvPr/>
        </p:nvPicPr>
        <p:blipFill rotWithShape="1">
          <a:blip r:embed="rId3">
            <a:alphaModFix/>
          </a:blip>
          <a:srcRect b="0" l="0" r="63935" t="30216"/>
          <a:stretch/>
        </p:blipFill>
        <p:spPr>
          <a:xfrm>
            <a:off x="4615700" y="1403862"/>
            <a:ext cx="2569049" cy="297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p31"/>
          <p:cNvCxnSpPr/>
          <p:nvPr/>
        </p:nvCxnSpPr>
        <p:spPr>
          <a:xfrm>
            <a:off x="4478175" y="981375"/>
            <a:ext cx="23700" cy="38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31"/>
          <p:cNvSpPr txBox="1"/>
          <p:nvPr/>
        </p:nvSpPr>
        <p:spPr>
          <a:xfrm>
            <a:off x="7453980" y="1403839"/>
            <a:ext cx="1056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4500" lIns="64500" spcFirstLastPara="1" rIns="64500" wrap="square" tIns="6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3">
              <a:solidFill>
                <a:schemeClr val="dk2"/>
              </a:solidFill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8095374" y="1751541"/>
            <a:ext cx="203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500" lIns="64500" spcFirstLastPara="1" rIns="64500" wrap="square" tIns="64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5">
                <a:solidFill>
                  <a:schemeClr val="dk1"/>
                </a:solidFill>
                <a:highlight>
                  <a:srgbClr val="B6DEEA"/>
                </a:highlight>
              </a:rPr>
              <a:t>1</a:t>
            </a:r>
            <a:endParaRPr sz="635">
              <a:solidFill>
                <a:schemeClr val="dk1"/>
              </a:solidFill>
              <a:highlight>
                <a:srgbClr val="B6DEEA"/>
              </a:highlight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7995754" y="1751541"/>
            <a:ext cx="203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500" lIns="64500" spcFirstLastPara="1" rIns="64500" wrap="square" tIns="64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5">
                <a:solidFill>
                  <a:schemeClr val="dk1"/>
                </a:solidFill>
                <a:highlight>
                  <a:srgbClr val="B6DEEA"/>
                </a:highlight>
              </a:rPr>
              <a:t>0</a:t>
            </a:r>
            <a:endParaRPr sz="635">
              <a:solidFill>
                <a:schemeClr val="dk1"/>
              </a:solidFill>
              <a:highlight>
                <a:srgbClr val="B6DEEA"/>
              </a:highlight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7298587" y="2478878"/>
            <a:ext cx="558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1525" lIns="61525" spcFirstLastPara="1" rIns="61525" wrap="square" tIns="61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1">
              <a:solidFill>
                <a:schemeClr val="dk2"/>
              </a:solidFill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8797229" y="2094557"/>
            <a:ext cx="1404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925" lIns="54925" spcFirstLastPara="1" rIns="54925" wrap="square" tIns="5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1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67" name="Google Shape;367;p31"/>
          <p:cNvSpPr txBox="1"/>
          <p:nvPr/>
        </p:nvSpPr>
        <p:spPr>
          <a:xfrm>
            <a:off x="8109330" y="2253860"/>
            <a:ext cx="1755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925" lIns="54925" spcFirstLastPara="1" rIns="54925" wrap="square" tIns="5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1">
                <a:solidFill>
                  <a:srgbClr val="FF0000"/>
                </a:solidFill>
                <a:highlight>
                  <a:schemeClr val="lt1"/>
                </a:highlight>
              </a:rPr>
              <a:t> </a:t>
            </a:r>
            <a:endParaRPr sz="6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8081415" y="2061979"/>
            <a:ext cx="3021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925" lIns="54925" spcFirstLastPara="1" rIns="54925" wrap="square" tIns="5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1">
                <a:solidFill>
                  <a:schemeClr val="lt1"/>
                </a:solidFill>
                <a:highlight>
                  <a:schemeClr val="lt1"/>
                </a:highlight>
              </a:rPr>
              <a:t>fgdfaa</a:t>
            </a:r>
            <a:endParaRPr sz="481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8199026" y="2050476"/>
            <a:ext cx="1755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925" lIns="54925" spcFirstLastPara="1" rIns="54925" wrap="square" tIns="5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1">
                <a:solidFill>
                  <a:srgbClr val="FF0000"/>
                </a:solidFill>
                <a:highlight>
                  <a:schemeClr val="lt1"/>
                </a:highlight>
              </a:rPr>
              <a:t> 1</a:t>
            </a:r>
            <a:endParaRPr sz="481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grpSp>
        <p:nvGrpSpPr>
          <p:cNvPr id="370" name="Google Shape;370;p31"/>
          <p:cNvGrpSpPr/>
          <p:nvPr/>
        </p:nvGrpSpPr>
        <p:grpSpPr>
          <a:xfrm>
            <a:off x="7163689" y="1141347"/>
            <a:ext cx="1610174" cy="1570047"/>
            <a:chOff x="7163350" y="1141300"/>
            <a:chExt cx="1556325" cy="1517540"/>
          </a:xfrm>
        </p:grpSpPr>
        <p:pic>
          <p:nvPicPr>
            <p:cNvPr id="371" name="Google Shape;371;p31"/>
            <p:cNvPicPr preferRelativeResize="0"/>
            <p:nvPr/>
          </p:nvPicPr>
          <p:blipFill rotWithShape="1">
            <a:blip r:embed="rId4">
              <a:alphaModFix/>
            </a:blip>
            <a:srcRect b="93536" l="51754" r="38499" t="1615"/>
            <a:stretch/>
          </p:blipFill>
          <p:spPr>
            <a:xfrm>
              <a:off x="7894254" y="1141300"/>
              <a:ext cx="460898" cy="1198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2" name="Google Shape;372;p31"/>
            <p:cNvGrpSpPr/>
            <p:nvPr/>
          </p:nvGrpSpPr>
          <p:grpSpPr>
            <a:xfrm>
              <a:off x="7163350" y="1261150"/>
              <a:ext cx="1556325" cy="1397690"/>
              <a:chOff x="7163350" y="1261150"/>
              <a:chExt cx="1556325" cy="1397690"/>
            </a:xfrm>
          </p:grpSpPr>
          <p:pic>
            <p:nvPicPr>
              <p:cNvPr id="373" name="Google Shape;373;p31"/>
              <p:cNvPicPr preferRelativeResize="0"/>
              <p:nvPr/>
            </p:nvPicPr>
            <p:blipFill rotWithShape="1">
              <a:blip r:embed="rId4">
                <a:alphaModFix/>
              </a:blip>
              <a:srcRect b="902" l="44690" r="37753" t="43422"/>
              <a:stretch/>
            </p:blipFill>
            <p:spPr>
              <a:xfrm>
                <a:off x="7559349" y="1261150"/>
                <a:ext cx="830238" cy="13760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4" name="Google Shape;374;p31"/>
              <p:cNvSpPr txBox="1"/>
              <p:nvPr/>
            </p:nvSpPr>
            <p:spPr>
              <a:xfrm>
                <a:off x="7163350" y="1332806"/>
                <a:ext cx="504600" cy="34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6725" lIns="66725" spcFirstLastPara="1" rIns="66725" wrap="square" tIns="66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76">
                    <a:solidFill>
                      <a:schemeClr val="dk2"/>
                    </a:solidFill>
                  </a:rPr>
                  <a:t>S1 = 0</a:t>
                </a:r>
                <a:endParaRPr sz="876">
                  <a:solidFill>
                    <a:schemeClr val="dk2"/>
                  </a:solidFill>
                </a:endParaRPr>
              </a:p>
            </p:txBody>
          </p:sp>
          <p:sp>
            <p:nvSpPr>
              <p:cNvPr id="375" name="Google Shape;375;p31"/>
              <p:cNvSpPr txBox="1"/>
              <p:nvPr/>
            </p:nvSpPr>
            <p:spPr>
              <a:xfrm>
                <a:off x="7182373" y="1751536"/>
                <a:ext cx="690600" cy="34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6725" lIns="66725" spcFirstLastPara="1" rIns="66725" wrap="square" tIns="66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76">
                    <a:solidFill>
                      <a:schemeClr val="dk2"/>
                    </a:solidFill>
                  </a:rPr>
                  <a:t>S2 = 1</a:t>
                </a:r>
                <a:endParaRPr sz="876">
                  <a:solidFill>
                    <a:schemeClr val="dk2"/>
                  </a:solidFill>
                </a:endParaRPr>
              </a:p>
            </p:txBody>
          </p:sp>
          <p:sp>
            <p:nvSpPr>
              <p:cNvPr id="376" name="Google Shape;376;p31"/>
              <p:cNvSpPr txBox="1"/>
              <p:nvPr/>
            </p:nvSpPr>
            <p:spPr>
              <a:xfrm>
                <a:off x="8044398" y="2499540"/>
                <a:ext cx="175500" cy="15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6825" lIns="56825" spcFirstLastPara="1" rIns="56825" wrap="square" tIns="56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97">
                    <a:solidFill>
                      <a:srgbClr val="FF0000"/>
                    </a:solidFill>
                    <a:highlight>
                      <a:schemeClr val="lt1"/>
                    </a:highlight>
                  </a:rPr>
                  <a:t> 1</a:t>
                </a:r>
                <a:endParaRPr sz="497">
                  <a:solidFill>
                    <a:srgbClr val="FF0000"/>
                  </a:solidFill>
                  <a:highlight>
                    <a:schemeClr val="lt1"/>
                  </a:highlight>
                </a:endParaRPr>
              </a:p>
            </p:txBody>
          </p:sp>
          <p:sp>
            <p:nvSpPr>
              <p:cNvPr id="377" name="Google Shape;377;p31"/>
              <p:cNvSpPr/>
              <p:nvPr/>
            </p:nvSpPr>
            <p:spPr>
              <a:xfrm>
                <a:off x="8144274" y="1366376"/>
                <a:ext cx="105600" cy="552900"/>
              </a:xfrm>
              <a:prstGeom prst="rect">
                <a:avLst/>
              </a:prstGeom>
              <a:noFill/>
              <a:ln cap="flat" cmpd="sng" w="5925">
                <a:solidFill>
                  <a:srgbClr val="FF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6825" lIns="56825" spcFirstLastPara="1" rIns="56825" wrap="square" tIns="56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70">
                  <a:highlight>
                    <a:srgbClr val="FF0000"/>
                  </a:highlight>
                </a:endParaRPr>
              </a:p>
            </p:txBody>
          </p:sp>
          <p:sp>
            <p:nvSpPr>
              <p:cNvPr id="378" name="Google Shape;378;p31"/>
              <p:cNvSpPr txBox="1"/>
              <p:nvPr/>
            </p:nvSpPr>
            <p:spPr>
              <a:xfrm>
                <a:off x="8060275" y="2012775"/>
                <a:ext cx="659400" cy="25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575" lIns="94575" spcFirstLastPara="1" rIns="94575" wrap="square" tIns="94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1">
                    <a:solidFill>
                      <a:srgbClr val="FF0000"/>
                    </a:solidFill>
                    <a:highlight>
                      <a:schemeClr val="lt1"/>
                    </a:highlight>
                  </a:rPr>
                  <a:t>1-&gt;0</a:t>
                </a:r>
                <a:endParaRPr sz="621">
                  <a:solidFill>
                    <a:srgbClr val="FF0000"/>
                  </a:solidFill>
                  <a:highlight>
                    <a:schemeClr val="lt1"/>
                  </a:highlight>
                </a:endParaRPr>
              </a:p>
            </p:txBody>
          </p:sp>
        </p:grpSp>
      </p:grpSp>
      <p:sp>
        <p:nvSpPr>
          <p:cNvPr id="379" name="Google Shape;379;p31"/>
          <p:cNvSpPr txBox="1"/>
          <p:nvPr/>
        </p:nvSpPr>
        <p:spPr>
          <a:xfrm>
            <a:off x="576275" y="4133638"/>
            <a:ext cx="161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Delay = 690 ps</a:t>
            </a:r>
            <a:endParaRPr sz="1300">
              <a:solidFill>
                <a:schemeClr val="dk2"/>
              </a:solidFill>
            </a:endParaRPr>
          </a:p>
        </p:txBody>
      </p:sp>
      <p:grpSp>
        <p:nvGrpSpPr>
          <p:cNvPr id="380" name="Google Shape;380;p31"/>
          <p:cNvGrpSpPr/>
          <p:nvPr/>
        </p:nvGrpSpPr>
        <p:grpSpPr>
          <a:xfrm>
            <a:off x="1625839" y="878699"/>
            <a:ext cx="2720297" cy="1046762"/>
            <a:chOff x="989737" y="981376"/>
            <a:chExt cx="2468510" cy="949874"/>
          </a:xfrm>
        </p:grpSpPr>
        <p:grpSp>
          <p:nvGrpSpPr>
            <p:cNvPr id="381" name="Google Shape;381;p31"/>
            <p:cNvGrpSpPr/>
            <p:nvPr/>
          </p:nvGrpSpPr>
          <p:grpSpPr>
            <a:xfrm>
              <a:off x="989737" y="981376"/>
              <a:ext cx="2468510" cy="694925"/>
              <a:chOff x="1159100" y="1182500"/>
              <a:chExt cx="1754075" cy="493800"/>
            </a:xfrm>
          </p:grpSpPr>
          <p:pic>
            <p:nvPicPr>
              <p:cNvPr id="382" name="Google Shape;382;p31"/>
              <p:cNvPicPr preferRelativeResize="0"/>
              <p:nvPr/>
            </p:nvPicPr>
            <p:blipFill rotWithShape="1">
              <a:blip r:embed="rId5">
                <a:alphaModFix/>
              </a:blip>
              <a:srcRect b="36464" l="0" r="0" t="0"/>
              <a:stretch/>
            </p:blipFill>
            <p:spPr>
              <a:xfrm>
                <a:off x="1159100" y="1182500"/>
                <a:ext cx="1293175" cy="493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3" name="Google Shape;383;p31"/>
              <p:cNvPicPr preferRelativeResize="0"/>
              <p:nvPr/>
            </p:nvPicPr>
            <p:blipFill rotWithShape="1">
              <a:blip r:embed="rId6">
                <a:alphaModFix/>
              </a:blip>
              <a:srcRect b="38815" l="0" r="0" t="0"/>
              <a:stretch/>
            </p:blipFill>
            <p:spPr>
              <a:xfrm>
                <a:off x="2452275" y="1275502"/>
                <a:ext cx="460900" cy="393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4" name="Google Shape;384;p31"/>
            <p:cNvSpPr txBox="1"/>
            <p:nvPr/>
          </p:nvSpPr>
          <p:spPr>
            <a:xfrm>
              <a:off x="1591022" y="1577250"/>
              <a:ext cx="810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750" lIns="100750" spcFirstLastPara="1" rIns="100750" wrap="square" tIns="1007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12">
                  <a:solidFill>
                    <a:schemeClr val="dk2"/>
                  </a:solidFill>
                </a:rPr>
                <a:t>match</a:t>
              </a:r>
              <a:endParaRPr sz="1212">
                <a:solidFill>
                  <a:schemeClr val="dk2"/>
                </a:solidFill>
              </a:endParaRPr>
            </a:p>
          </p:txBody>
        </p:sp>
        <p:sp>
          <p:nvSpPr>
            <p:cNvPr id="385" name="Google Shape;385;p31"/>
            <p:cNvSpPr txBox="1"/>
            <p:nvPr/>
          </p:nvSpPr>
          <p:spPr>
            <a:xfrm>
              <a:off x="2170922" y="1577250"/>
              <a:ext cx="810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750" lIns="100750" spcFirstLastPara="1" rIns="100750" wrap="square" tIns="1007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12">
                  <a:solidFill>
                    <a:schemeClr val="dk2"/>
                  </a:solidFill>
                </a:rPr>
                <a:t>m</a:t>
              </a:r>
              <a:r>
                <a:rPr lang="en" sz="1212">
                  <a:solidFill>
                    <a:schemeClr val="dk2"/>
                  </a:solidFill>
                </a:rPr>
                <a:t>ismatch</a:t>
              </a:r>
              <a:endParaRPr sz="1212">
                <a:solidFill>
                  <a:schemeClr val="dk2"/>
                </a:solidFill>
              </a:endParaRPr>
            </a:p>
          </p:txBody>
        </p:sp>
      </p:grpSp>
      <p:sp>
        <p:nvSpPr>
          <p:cNvPr id="386" name="Google Shape;386;p31"/>
          <p:cNvSpPr txBox="1"/>
          <p:nvPr/>
        </p:nvSpPr>
        <p:spPr>
          <a:xfrm>
            <a:off x="4871750" y="4376825"/>
            <a:ext cx="161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Delay = 1.28ns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387" name="Google Shape;387;p31" title="delay_10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325" y="1925463"/>
            <a:ext cx="3436925" cy="2208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1"/>
          <p:cNvSpPr txBox="1"/>
          <p:nvPr/>
        </p:nvSpPr>
        <p:spPr>
          <a:xfrm>
            <a:off x="7510975" y="2920138"/>
            <a:ext cx="13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Load = 100fF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9" name="Google Shape;389;p31"/>
          <p:cNvSpPr txBox="1"/>
          <p:nvPr/>
        </p:nvSpPr>
        <p:spPr>
          <a:xfrm>
            <a:off x="397575" y="918025"/>
            <a:ext cx="132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1.</a:t>
            </a:r>
            <a:r>
              <a:rPr b="1" lang="en" sz="1200">
                <a:solidFill>
                  <a:schemeClr val="dk2"/>
                </a:solidFill>
              </a:rPr>
              <a:t>Conventional search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4735675" y="918025"/>
            <a:ext cx="27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2.Configurable search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resize buffer</a:t>
            </a:r>
            <a:endParaRPr/>
          </a:p>
        </p:txBody>
      </p:sp>
      <p:sp>
        <p:nvSpPr>
          <p:cNvPr id="396" name="Google Shape;39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7" name="Google Shape;397;p32" title="AFJUSTSA.png"/>
          <p:cNvPicPr preferRelativeResize="0"/>
          <p:nvPr/>
        </p:nvPicPr>
        <p:blipFill rotWithShape="1">
          <a:blip r:embed="rId3">
            <a:alphaModFix/>
          </a:blip>
          <a:srcRect b="0" l="0" r="56751" t="57000"/>
          <a:stretch/>
        </p:blipFill>
        <p:spPr>
          <a:xfrm>
            <a:off x="152234" y="2571762"/>
            <a:ext cx="3719498" cy="22117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8" name="Google Shape;398;p32" title="AFJUST_SA_COMPARE.png"/>
          <p:cNvPicPr preferRelativeResize="0"/>
          <p:nvPr/>
        </p:nvPicPr>
        <p:blipFill rotWithShape="1">
          <a:blip r:embed="rId4">
            <a:alphaModFix/>
          </a:blip>
          <a:srcRect b="0" l="0" r="45629" t="63000"/>
          <a:stretch/>
        </p:blipFill>
        <p:spPr>
          <a:xfrm>
            <a:off x="4132725" y="3051163"/>
            <a:ext cx="4594923" cy="18700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9" name="Google Shape;399;p32" title="FIX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250" y="899125"/>
            <a:ext cx="4147404" cy="13516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00" name="Google Shape;400;p32"/>
          <p:cNvCxnSpPr/>
          <p:nvPr/>
        </p:nvCxnSpPr>
        <p:spPr>
          <a:xfrm>
            <a:off x="206250" y="2402400"/>
            <a:ext cx="43062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32"/>
          <p:cNvSpPr txBox="1"/>
          <p:nvPr>
            <p:ph type="title"/>
          </p:nvPr>
        </p:nvSpPr>
        <p:spPr>
          <a:xfrm>
            <a:off x="4762150" y="609525"/>
            <a:ext cx="233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resize buffer</a:t>
            </a:r>
            <a:endParaRPr/>
          </a:p>
        </p:txBody>
      </p:sp>
      <p:pic>
        <p:nvPicPr>
          <p:cNvPr id="402" name="Google Shape;40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1263" y="779962"/>
            <a:ext cx="1591025" cy="2109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" name="Google Shape;403;p32"/>
          <p:cNvCxnSpPr>
            <a:stCxn id="395" idx="0"/>
          </p:cNvCxnSpPr>
          <p:nvPr/>
        </p:nvCxnSpPr>
        <p:spPr>
          <a:xfrm flipH="1">
            <a:off x="4543800" y="445025"/>
            <a:ext cx="28200" cy="19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</a:t>
            </a:r>
            <a:endParaRPr/>
          </a:p>
        </p:txBody>
      </p:sp>
      <p:sp>
        <p:nvSpPr>
          <p:cNvPr id="409" name="Google Shape;409;p33"/>
          <p:cNvSpPr txBox="1"/>
          <p:nvPr>
            <p:ph idx="1" type="body"/>
          </p:nvPr>
        </p:nvSpPr>
        <p:spPr>
          <a:xfrm>
            <a:off x="347175" y="908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</a:t>
            </a:r>
            <a:r>
              <a:rPr lang="en"/>
              <a:t>uantitative power comparison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TCAM configuration with the same structure</a:t>
            </a:r>
            <a:endParaRPr/>
          </a:p>
        </p:txBody>
      </p:sp>
      <p:sp>
        <p:nvSpPr>
          <p:cNvPr id="410" name="Google Shape;41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16" name="Google Shape;41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S. Jeloka, N. B. Akesh, D. Sylvester and D. Blaauw, "A 28 nm Configurable Memory (TCAM/BCAM/SRAM) Using Push-Rule 6T Bit Cell Enabling Logic-in-Memory," in IEEE Journal of Solid-State Circuits, vol. 51, no. 4, pp. 1009-1021, April 2016, doi: 10.1109/JSSC.2016.2515510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Journal of Electrical Systems Engineering and Scientific Research Groups (ESR Groups), “View of Design and Analysis Latch Sense Amplifier Used in SRAM IC by Using Low Power Techniques.” https://journal.esrgroups.org/jes/article/view/4626/3437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[3]M. K. Chaitanya and V. Ravi, “Design and Development of BIST Architecture for Characterization of S-RAM Stability,” Indian Journal of Science and Technology, vol. 9, no. 21, Jun. 2016, doi: https://doi.org/10.17485/ijst/2016/v9i21/89610.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‌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[4]Sajith Ahamed Palatham-Veedu “Design and Analysis of Sense Amplifier Circuits used in High Performance and Low-Power SRAMs”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